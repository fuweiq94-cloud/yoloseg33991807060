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领导、同事大家好，我是来自中央研究院的XXX，今天非常荣幸能在这里进行我的试用期转正答辩。本次汇报的主题是“自研软件调试设备项目”，在接下来的时间里，我将从项目背景、技术方案、成果产出以及个人总结四个方面展开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本页是目录页，采用了左侧导航栏加右侧双列卡片的布局形式。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设计上使用了华为红作为强调色，搭配深灰色侧边栏和浅灰色背景，营造出简洁、专业且富有科技感的现代风格。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内容涵盖了试用期总结汇报的六大核心板块：从个人认知出发，回顾工作、展示核心项目、沉淀技术能力，最后进行反思与未来规划，逻辑清晰，层层递进。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本页主要展示了我的个人基本信息、教育背景、核心技能栈以及对当前岗位的认知。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个人信息方面，我入职于2026年5月，隶属于智能硬件研发部调试组，在导师李华的指导下开展工作。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教育背景上，我毕业于哈尔滨工业大学电子信息工程专业，拥有硕士学位，具备扎实的理论基础。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技能栈涵盖了嵌入式开发全流程，包括C/C++编程、底层驱动开发、通信协议实现以及设备调试能力，同时熟练使用Git进行团队协作。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对于岗位的认知，我认为核心在于“效率”与“稳定”，即通过优秀的软件工具赋能硬件调试，保障研发进度和产品质量。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这一页展示了我在试用期三个月内的工作回顾，主要分为三个阶段。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第一个月重点在于“环境融入与技术筑基”，我通过研读文档和培训，快速掌握了团队的技术栈和业务逻辑。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第二个月进入“项目参与与模块攻坚”阶段，我深度参与需求分析，并成功交付了3个核心功能模块。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第三个月则实现了“独立负责与核心突破”，独立承担核心功能调试，解决了15+技术难点，并优化了系统性能。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总体来看，我已经完成了从新人到能独立承担任务的角色转变。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这一页聚焦自研软件调试设备项目的背景与落地价值，整体采用华为红主题色，内容更贴近实际工作场景。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我们详细拆解了传统调试模式的真实痛点：一是工具割裂，比如用串口助手要频繁切波特率、连不同PLC要装多款驱动，光环境准备就耗1小时以上；二是无并行能力，一次只能调一台设备，批量测试时排队严重，拖慢交付周期；三是无数据留存，调试全靠人工记日志，故障回溯无依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针对这些问题，自研软件的核心价值也很具体：支持10多种协议自动适配，不用手动配参数；能4台设备并行调，效率提升40%；还能自动生成报告，新人上手从3天缩到1小时，大幅降低人力门槛。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真实的设备调试工作场景图，下方三个卡片对应项目的核心成果：效率上，单设备调试时间从2小时降到40分钟；成本上，减少80%硬件采购和60%人力损耗；流程上，固化了15个SOP，把故障率从12%压到3%，真正实现了降本增效和流程标准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本页展示了软件系统的整体分层架构设计，采用了经典的自上而下的三层结构，确保了系统的高内聚、低耦合。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最底层是硬件抽象层（HAL）：负责屏蔽底层硬件的复杂性，提供统一的设备接入和驱动适配，确保上层软件不依赖于具体的硬件实现。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中间是核心服务层：这是系统的“心脏”，用红色重点标注。包含智能调试引擎、多协议解析和实时数据处理三大核心模块，负责业务逻辑的处理、数据的流转与分析。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最上层是应用层：直接面向用户，提供友好的交互界面、灵活的配置管理以及完善的日志审计功能，确保系统的易用性和可维护性。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本页重点介绍实时调试与日志分析的核心技术实现，整体采用华为红主题色，突出专业与务实的技术风格。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左侧是全链路调试流程，我们将抽象的步骤具象化：设备连接阶段，通过USB CDC-ACM与TCP握手包特征匹配实现接口自动识别；参数配置基于JSON-RPC 2.0协议支持热更新；监控环节利用DMA与FPGA实现1ms级数据捕获；日志分析则基于ELK栈实现高效检索。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右侧展示了沉浸式开发环境，集成VS Code内核与硬件调试终端，大幅提升开发效率。下方三个技术亮点：毫秒级采集解决了高频信号失真问题，智能异常告警通过机器学习实现秒级响应，结构化日志检索则基于ES索引实现快速故障定位。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这些技术细节确保了系统调试的高效性与准确性，为产品稳定性提供了技术支撑。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本页重点介绍了设备调试流程的关键技术实现，整体采用华为红主题，突出流程化与技术落地性。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左侧梳理了标准化的四步调试流程：从基础的环境与连接验证，到模块级单元测试，再到系统集成与压力测试，最后通过问题定位完成迭代优化，每一步都明确了核心执行动作与验证标准。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右侧结合真实的程序员工作场景，重点阐述了“智能异常检测”这一核心技术亮点：通过构建特征模型与机器学习算法，实现了异常的毫秒级告警与自动定位，大幅提升了调试效率。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本页聚焦硬件调试的核心方法论——四步高效排查法，内容更贴近一线实操场景：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环境搭建检查：明确了电源、连接、软件版本等具体检查项，避免因基础环境问题导致调试受阻。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基础功能验证：从日志、指示灯、通信链路三个维度验证设备基础可用性，快速过滤低级问题。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功能模块测试：针对传感器、执行器、数据协议等核心模块制定具体测试标准，确保功能达标。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4. 异常复盘与归档：强调异常记录、根因闭环和报告归档，形成调试的完整闭环，沉淀经验。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右侧预留了硬件调试设备的真实照片位，可替换为示波器、调试板等实际设备图，让内容更具象、接地气。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这一页展示了我的能力成长路径与技术沉淀，主要从技术能力、工程能力和软技能三个维度展开。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1. 技术能力方面：我深耕底层原理，深入理解嵌入式系统架构与RTOS内核，并掌握了CAN、LIN等多协议调试技术，同时注重代码质量，通过推行规范显著提升了代码的可维护性。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2. 工程能力方面：我熟练掌握敏捷开发流程，建立了标准化的文档体系，并总结了系统化的问题排查方法论，有效提升了团队的研发效率和故障解决速度。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3. 软技能方面：我注重跨团队沟通协作，能够精准拆解需求，对齐各方目标；同时在项目进度管理和风险管理上积累了丰富经验，保障项目的顺利交付。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这一页主要展示了我们在团队协作与文化融入方面的实践与成果。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左侧是具体的协作成果：我们通过常态化的技术分享，拓宽了团队的技术视野；通过互助攻坚，解决了12个关键技术难题；通过沉淀核心文档，降低了知识传承的成本。这些都是我们团队协作最直接的体现。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右侧则是我们对华为核心文化的践行：始终坚持以客户为中心，解决实际痛点；坚持以奋斗者为本，激励大家积极进取；在面对困难时保持长期艰苦奋斗的精神；同时勇于自我批判，在复盘中不断优化提升。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底部我们也展示了团队日常的互动，协作不仅发生在会议室，也发生在每一次团建和交流中，真正做到了文化融入血液。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这一页主要从优势和不足两个维度进行自我评价与反思。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优势方面，我主要体现在四个方面：首先是学习能力，能够快速掌握新技术并落地实践；其次是严谨的工作态度，确保了项目的高质量交付；第三是精准的问题定位能力，有效解决了系统关键瓶颈；最后是良好的团队协作意识，积极分享与互助，推动团队共同进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待改进方面，我也清醒地认识到了自己的短板：一是对复杂分布式系统架构的实战经验不足，需要系统性深化；二是跨领域的业务知识储备还不够，需要加强行业洞察；三是在多任务并行时的时间管理效率有待提升，计划引入更科学的工具和方法来优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未来我将继续发挥优势，针对不足制定具体的提升计划，实现个人能力的持续精进。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这一页是我的自我评价与反思，我将从优势和不足两个维度，结合具体工作事例进行总结。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优势方面，我具备快速学习和高效落地的能力。入职仅1个月就吃透了自研调试工具的核心代码，提前2周参与正式版本交付；针对用户反馈的日志解析慢问题，3天内完成算法优化，使解析效率提升60%。同时，我在跨团队协作中执行力较强，能主动对接需求并推进落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不足方面，我也有清晰的认知。一是对复杂系统架构理解不足，尤其是工具与底层硬件交互的全链路架构，导致偶现问题排查效率低；二是技术经验沉淀意识薄弱，解决问题后未及时整理总结，存在重复踩坑的情况；三是技术视野有待拓宽，对行业新技术的主动调研不足。后续我将针对性地弥补这些短板，持续提升自身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这一页是我转正后的工作规划，分为短期和中期两个阶段，目标更具体、可衡量，风格也更务实。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短期目标（入职3个月内）核心是“夯实基础”：一是吃透架构，通过输出技术笔记建立完整认知；二是独立维护版本，确保V2.8版本零故障发布；三是落地2项具体的功能优化，分别是日志检索速度和报表导出体验，并输出效果报告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中期目标（入职6-12个月）核心是“突破攻坚”：一是跻身核心开发组，攻克底层技术难点并输出专利或文档；二是主导下一代工具预研，完成AI辅助调试等方向的原型验证；三是培养1-2名新人，通过制定手册、代码Review等方式，帮助新人独立负责模块，做好团队梯队建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感谢各位领导和专家的聆听。以上就是我汇报的全部内容，恳请各位批评指正，提出宝贵的意见和建议。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19" Target="../media/image24.svg" Type="http://schemas.openxmlformats.org/officeDocument/2006/relationships/image"/><Relationship Id="rId2" Target="../media/image7.png" Type="http://schemas.openxmlformats.org/officeDocument/2006/relationships/image"/><Relationship Id="rId20" Target="../media/image25.png" Type="http://schemas.openxmlformats.org/officeDocument/2006/relationships/image"/><Relationship Id="rId21" Target="../media/image26.svg" Type="http://schemas.openxmlformats.org/officeDocument/2006/relationships/image"/><Relationship Id="rId22" Target="../notesSlides/notesSlide3.xml" Type="http://schemas.openxmlformats.org/officeDocument/2006/relationships/notesSlid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media/image39.png" Type="http://schemas.openxmlformats.org/officeDocument/2006/relationships/image"/><Relationship Id="rId20" Target="../notesSlides/notesSlide6.xml" Type="http://schemas.openxmlformats.org/officeDocument/2006/relationships/notesSlid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5.jpe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68.png" Type="http://schemas.openxmlformats.org/officeDocument/2006/relationships/image"/><Relationship Id="rId14" Target="../media/image69.svg" Type="http://schemas.openxmlformats.org/officeDocument/2006/relationships/image"/><Relationship Id="rId15" Target="../media/image70.png" Type="http://schemas.openxmlformats.org/officeDocument/2006/relationships/image"/><Relationship Id="rId16" Target="../media/image71.svg" Type="http://schemas.openxmlformats.org/officeDocument/2006/relationships/image"/><Relationship Id="rId17" Target="../notesSlides/notesSlide7.xml" Type="http://schemas.openxmlformats.org/officeDocument/2006/relationships/notesSlid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0.png" Type="http://schemas.openxmlformats.org/officeDocument/2006/relationships/image"/><Relationship Id="rId3" Target="../media/image81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84.png" Type="http://schemas.openxmlformats.org/officeDocument/2006/relationships/image"/><Relationship Id="rId7" Target="../media/image85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14" Target="../media/image98.png" Type="http://schemas.openxmlformats.org/officeDocument/2006/relationships/image"/><Relationship Id="rId15" Target="../media/image99.svg" Type="http://schemas.openxmlformats.org/officeDocument/2006/relationships/image"/><Relationship Id="rId16" Target="../notesSlides/notesSlide12.xml" Type="http://schemas.openxmlformats.org/officeDocument/2006/relationships/notesSlide"/><Relationship Id="rId2" Target="../media/image86.png" Type="http://schemas.openxmlformats.org/officeDocument/2006/relationships/image"/><Relationship Id="rId3" Target="../media/image87.sv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png" Type="http://schemas.openxmlformats.org/officeDocument/2006/relationships/image"/><Relationship Id="rId7" Target="../media/image91.svg" Type="http://schemas.openxmlformats.org/officeDocument/2006/relationships/image"/><Relationship Id="rId8" Target="../media/image92.png" Type="http://schemas.openxmlformats.org/officeDocument/2006/relationships/image"/><Relationship Id="rId9" Target="../media/image9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6.png" Type="http://schemas.openxmlformats.org/officeDocument/2006/relationships/image"/><Relationship Id="rId11" Target="../media/image107.svg" Type="http://schemas.openxmlformats.org/officeDocument/2006/relationships/image"/><Relationship Id="rId12" Target="../media/image108.png" Type="http://schemas.openxmlformats.org/officeDocument/2006/relationships/image"/><Relationship Id="rId13" Target="../media/image109.svg" Type="http://schemas.openxmlformats.org/officeDocument/2006/relationships/image"/><Relationship Id="rId14" Target="../notesSlides/notesSlide13.xml" Type="http://schemas.openxmlformats.org/officeDocument/2006/relationships/notesSlide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2.png" Type="http://schemas.openxmlformats.org/officeDocument/2006/relationships/image"/><Relationship Id="rId5" Target="../media/image103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104.png" Type="http://schemas.openxmlformats.org/officeDocument/2006/relationships/image"/><Relationship Id="rId9" Target="../media/image10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19.svg" Type="http://schemas.openxmlformats.org/officeDocument/2006/relationships/image"/><Relationship Id="rId12" Target="../media/image120.png" Type="http://schemas.openxmlformats.org/officeDocument/2006/relationships/image"/><Relationship Id="rId13" Target="../media/image121.svg" Type="http://schemas.openxmlformats.org/officeDocument/2006/relationships/image"/><Relationship Id="rId14" Target="../notesSlides/notesSlide14.xml" Type="http://schemas.openxmlformats.org/officeDocument/2006/relationships/notesSlide"/><Relationship Id="rId2" Target="../media/image110.png" Type="http://schemas.openxmlformats.org/officeDocument/2006/relationships/image"/><Relationship Id="rId3" Target="../media/image111.svg" Type="http://schemas.openxmlformats.org/officeDocument/2006/relationships/image"/><Relationship Id="rId4" Target="../media/image112.png" Type="http://schemas.openxmlformats.org/officeDocument/2006/relationships/image"/><Relationship Id="rId5" Target="../media/image113.svg" Type="http://schemas.openxmlformats.org/officeDocument/2006/relationships/image"/><Relationship Id="rId6" Target="../media/image114.png" Type="http://schemas.openxmlformats.org/officeDocument/2006/relationships/image"/><Relationship Id="rId7" Target="../media/image115.svg" Type="http://schemas.openxmlformats.org/officeDocument/2006/relationships/image"/><Relationship Id="rId8" Target="../media/image116.png" Type="http://schemas.openxmlformats.org/officeDocument/2006/relationships/image"/><Relationship Id="rId9" Target="../media/image117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33333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5245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聚焦前沿技术，打造高效、稳定的自研软件调试体系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0" y="2540000"/>
            <a:ext cx="533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C7000B"/>
                </a:solidFill>
                <a:latin typeface="Noto Sans SC"/>
                <a:ea typeface="Noto Sans SC"/>
                <a:cs typeface="Noto Sans SC"/>
                <a:sym typeface="Noto Sans SC"/>
              </a:rPr>
              <a:t>试用期转正答辩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0" y="381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C700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0" y="4191000"/>
            <a:ext cx="533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自研软件调试设备项目汇报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0" y="5588000"/>
            <a:ext cx="228600" cy="228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667500" y="55626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汇报人：XXX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5588000"/>
            <a:ext cx="228600" cy="228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8699500" y="55626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所属部门：中央研究院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414000" y="5588000"/>
            <a:ext cx="228600" cy="228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0731500" y="5562600"/>
            <a:ext cx="152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DDDDDD"/>
                </a:solidFill>
                <a:latin typeface="Noto Sans SC"/>
                <a:ea typeface="Noto Sans SC"/>
                <a:cs typeface="Noto Sans SC"/>
                <a:sym typeface="Noto Sans SC"/>
              </a:rPr>
              <a:t>日期：2026年X月X日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3302000" cy="6858000"/>
          </a:xfrm>
          <a:prstGeom prst="roundRect">
            <a:avLst>
              <a:gd name="adj" fmla="val 0"/>
            </a:avLst>
          </a:prstGeom>
          <a:solidFill>
            <a:srgbClr val="33333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30480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81000" y="4191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 spc="1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" y="5080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以技术沉淀为基石，以项目实践为导向，全面复盘试用期工作成果，明确未来职业发展路径。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064000" y="1778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18288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53935"/>
                </a:solidFill>
                <a:latin typeface="Noto Sans SC"/>
                <a:ea typeface="Noto Sans SC"/>
                <a:cs typeface="Noto Sans SC"/>
                <a:sym typeface="Noto Sans SC"/>
              </a:rPr>
              <a:t>个人简介与岗位认知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064000" y="2413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梳理个人专业技术背景，深度解析岗位核心职责与价值定位，明确自身能力与岗位需求的契合点。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064000" y="3556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36068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试用期工作回顾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64000" y="4191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全面复盘试用期关键工作节点，系统梳理阶段性任务的执行情况，总结执行过程中的关键经验积累。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064000" y="5207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52578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核心项目：自研软件调试设备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064000" y="57785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详述自研调试设备的项目背景与技术架构，攻克开发难点，展示项目落地后带来的效率提升价值。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778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0" y="18288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能力成长与技术沉淀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2413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剖析技术栈拓展与专业能力进阶路径，沉淀项目实践中的关键技术方案，形成可复用的解决思路。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3556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890000" y="36068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自我评价与反思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4191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客观审视工作表现中的优势与短板，深刻反思问题产生的根源，提出针对性的改进措施与优化方向。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5207000"/>
            <a:ext cx="63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890000" y="52578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转正后工作规划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57785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结合团队战略与个人发展，制定短期攻坚目标与长期职业规划，明确下一阶段重点突破的业务方向。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个人简介与岗位认知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0731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1016000" cy="10160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2286000" y="18415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张明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嵌入式开发工程师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24000" y="34036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入职时间：2026年05月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524000" y="4165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所属部门：智能硬件研发部调试组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49276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指导导师：李华（高级系统架构师）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334000" y="1778000"/>
            <a:ext cx="457200" cy="457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969000" y="1778000"/>
            <a:ext cx="584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教育背景：哈尔滨工业大学 · 电子信息工程（硕士）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主修嵌入式系统、数字信号处理，参与过实验室项目，有工程实践基础。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5334000" y="34290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5842000" y="3403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嵌入式开发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熟悉ARM架构，做过裸机和RTOS开发，会写硬件驱动。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763000" y="3429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271000" y="3403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C/C++编程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熟练用C++写代码，懂STL，代码规范好。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5334000" y="4572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842000" y="4546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设备调试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会用示波器、逻辑分析仪，能定位软硬件问题。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8763000" y="45720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271000" y="45466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通信协议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会写SPI/I2C/UART驱动，保证数据传输稳定。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08000" y="5715000"/>
            <a:ext cx="11366500" cy="889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CC0000">
                  <a:alpha val="100000"/>
                </a:srgbClr>
              </a:gs>
              <a:gs pos="100000">
                <a:srgbClr val="DC2626">
                  <a:alpha val="100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 flipH="false" flipV="false">
            <a:off x="762000" y="5969000"/>
            <a:ext cx="381000" cy="381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397000" y="5842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岗位认知：</a:t>
            </a:r>
            <a:r>
              <a:rPr lang="en-US" b="false" i="false" strike="noStrike" u="none" sz="1400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做好自研调试软件的开发和维护，把调试流程和工具链优化好，让硬件Bring-up更快；盯紧设备调试的稳定性，给产品量产和迭代打好基础。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E500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试用期工作回顾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0022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500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095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032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第1个月：环境融入与技术学习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857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快速熟悉团队协作模式与Java+SpringCloud技术栈，研读用户管理、订单系统等核心模块文档，梳理业务流转逻辑，完成新员工入职培训与技术考核，初步具备开发基础。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50022"/>
                </a:solidFill>
                <a:latin typeface="Noto Sans SC"/>
                <a:ea typeface="Noto Sans SC"/>
                <a:cs typeface="Noto Sans SC"/>
                <a:sym typeface="Noto Sans SC"/>
              </a:rPr>
              <a:t>成果：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梳理核心技术文档8份，熟练掌握Maven、Git两项核心开发工具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778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500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0955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80000" y="2032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第2个月：项目参与与模块开发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2857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深度参与需求评审，独立负责“用户权限管理”“订单支付回调”“报表数据导出”3个子模块开发，配合前端完成接口联调，修复Bug 20+，确保开发进度按期交付。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4445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50022"/>
                </a:solidFill>
                <a:latin typeface="Noto Sans SC"/>
                <a:ea typeface="Noto Sans SC"/>
                <a:cs typeface="Noto Sans SC"/>
                <a:sym typeface="Noto Sans SC"/>
              </a:rPr>
              <a:t>成果：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交付3个核心业务模块，输出2份需求分析报告，Bug修复率100%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778000"/>
            <a:ext cx="3556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500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955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890000" y="2032000"/>
            <a:ext cx="266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第3个月：独立负责与性能优化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2857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独立承担系统核心功能调试，排查并解决接口超时、数据库慢查询等15+技术难点；针对订单查询模块进行性能优化，通过索引优化、缓存策略调整，提升系统响应速度。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4445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E50022"/>
                </a:solidFill>
                <a:latin typeface="Noto Sans SC"/>
                <a:ea typeface="Noto Sans SC"/>
                <a:cs typeface="Noto Sans SC"/>
                <a:sym typeface="Noto Sans SC"/>
              </a:rPr>
              <a:t>成果：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攻克15+技术难题，订单查询模块响应时间缩短20%，系统稳定性提升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" y="5588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E5002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8000" y="5588000"/>
            <a:ext cx="50800" cy="889000"/>
          </a:xfrm>
          <a:prstGeom prst="roundRect">
            <a:avLst>
              <a:gd name="adj" fmla="val 0"/>
            </a:avLst>
          </a:prstGeom>
          <a:solidFill>
            <a:srgbClr val="E5002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56515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月试用期实现了从“快速适应”到“独立产出”的平稳过渡，熟练掌握了业务系统核心技术栈，在模块开发、问题排查与性能优化中积累了实战经验，具备独立承担开发任务的能力，为后续工作开展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核心项目：自研软件调试设备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143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 —— 突破传统调试瓶颈，构建高效兼容的智能调试体系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771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C262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508000" y="2159000"/>
            <a:ext cx="5461000" cy="2286000"/>
          </a:xfrm>
          <a:prstGeom prst="roundRect">
            <a:avLst>
              <a:gd name="adj" fmla="val 0"/>
            </a:avLst>
          </a:prstGeom>
          <a:solidFill>
            <a:srgbClr val="991B1B">
              <a:alpha val="15000"/>
            </a:srgbClr>
          </a:solidFill>
          <a:ln cmpd="sng" cap="flat">
            <a:solidFill>
              <a:srgbClr val="800A0A">
                <a:alpha val="1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159000"/>
            <a:ext cx="50800" cy="2286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34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▌ 传统调试模式的真实痛点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857500"/>
            <a:ext cx="5080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1. 工具割裂：用串口助手调试需频繁手动切换波特率，连接不同PLC要装5+款驱动，单设备环境准备耗1h+；2. 无并行能力：每次仅能调1台设备，批量测试时排队等待，项目交付周期被拉长30%；3. 无数据留存：调试过程全靠人工记日志，故障回溯无依据，同类问题重复出现。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4699000"/>
            <a:ext cx="5461000" cy="1905000"/>
          </a:xfrm>
          <a:prstGeom prst="roundRect">
            <a:avLst>
              <a:gd name="adj" fmla="val 0"/>
            </a:avLst>
          </a:prstGeom>
          <a:solidFill>
            <a:srgbClr val="991B1B">
              <a:alpha val="15000"/>
            </a:srgbClr>
          </a:solidFill>
          <a:ln cmpd="sng" cap="flat">
            <a:solidFill>
              <a:srgbClr val="800A0A">
                <a:alpha val="15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4699000"/>
            <a:ext cx="50800" cy="19050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89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▌ 自研软件的核心落地价值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5334000"/>
            <a:ext cx="508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支持Modbus/Profinet等10+协议自动适配，无需手动配置参数；实现4台设备并行调试，单批次测试效率提升</a:t>
            </a:r>
            <a:r>
              <a:rPr lang="en-US" b="true" i="false" strike="noStrike" u="none" sz="1300">
                <a:solidFill>
                  <a:srgbClr val="F87171"/>
                </a:solidFill>
                <a:latin typeface="Noto Sans SC"/>
                <a:ea typeface="Noto Sans SC"/>
                <a:cs typeface="Noto Sans SC"/>
                <a:sym typeface="Noto Sans SC"/>
              </a:rPr>
              <a:t>40%</a:t>
            </a:r>
            <a:r>
              <a:rPr lang="en-US" b="false" i="false" strike="noStrike" u="none" sz="13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；自动生成调试报告，新人上手从3天缩短至1小时，大幅降低人力门槛。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04000" y="4953000"/>
            <a:ext cx="1524000" cy="1651000"/>
          </a:xfrm>
          <a:prstGeom prst="roundRect">
            <a:avLst>
              <a:gd name="adj" fmla="val 0"/>
            </a:avLst>
          </a:prstGeom>
          <a:solidFill>
            <a:srgbClr val="991B1B">
              <a:alpha val="10000"/>
            </a:srgbClr>
          </a:solidFill>
          <a:ln w="12700" cmpd="sng" cap="flat">
            <a:solidFill>
              <a:srgbClr val="DC2626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731000" y="50800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5080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效率跃升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31000" y="5588000"/>
            <a:ext cx="127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支持10+协议并行调试，单设备调试时间从2h降至40min。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18500" y="4953000"/>
            <a:ext cx="1524000" cy="1651000"/>
          </a:xfrm>
          <a:prstGeom prst="roundRect">
            <a:avLst>
              <a:gd name="adj" fmla="val 0"/>
            </a:avLst>
          </a:prstGeom>
          <a:solidFill>
            <a:srgbClr val="991B1B">
              <a:alpha val="10000"/>
            </a:srgbClr>
          </a:solidFill>
          <a:ln w="12700" cmpd="sng" cap="flat">
            <a:solidFill>
              <a:srgbClr val="DC2626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445500" y="5080000"/>
            <a:ext cx="304800" cy="3048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826500" y="5080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成本可控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445500" y="5588000"/>
            <a:ext cx="127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减少80%硬件调试工具采购，降低60%人力工时损耗。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033000" y="4953000"/>
            <a:ext cx="1524000" cy="1651000"/>
          </a:xfrm>
          <a:prstGeom prst="roundRect">
            <a:avLst>
              <a:gd name="adj" fmla="val 0"/>
            </a:avLst>
          </a:prstGeom>
          <a:solidFill>
            <a:srgbClr val="991B1B">
              <a:alpha val="10000"/>
            </a:srgbClr>
          </a:solidFill>
          <a:ln w="12700" cmpd="sng" cap="flat">
            <a:solidFill>
              <a:srgbClr val="DC2626">
                <a:alpha val="6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0" y="50800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0541000" y="5080000"/>
            <a:ext cx="114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流程规范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0" y="5588000"/>
            <a:ext cx="127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固化15+调试SOP，自动生成报告，故障率从12%降至3%。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软件整体架构设计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079500"/>
            <a:ext cx="11176000" cy="25400"/>
          </a:xfrm>
          <a:prstGeom prst="roundRect">
            <a:avLst>
              <a:gd name="adj" fmla="val 0"/>
            </a:avLst>
          </a:prstGeom>
          <a:solidFill>
            <a:srgbClr val="E2231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11176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cmpd="sng" cap="flat">
            <a:solidFill>
              <a:srgbClr val="C4CC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524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8415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61804" flipH="false" flipV="false">
            <a:off x="1079500" y="2216185"/>
            <a:ext cx="114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905000" y="1651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32000" y="1778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2540000" y="1714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用户交互界面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提供可视化操作面板与数据展示，支持多终端适配，实现用户指令的统一输入与反馈。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16500" y="1651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143500" y="1778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651500" y="1714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系统配置中心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负责参数化配置管理、权限控制及策略下发，支持热更新机制，保障系统灵活适配业务变更。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651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0" y="1778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636000" y="1714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全链路日志审计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采集系统运行日志、操作记录与异常堆栈，提供日志检索与可视化分析，助力问题快速定位。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3238500"/>
            <a:ext cx="11176000" cy="15875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cmpd="sng" cap="flat">
            <a:solidFill>
              <a:srgbClr val="B7C0D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3238500"/>
            <a:ext cx="1016000" cy="15875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35560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核心层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5367260" flipH="false" flipV="false">
            <a:off x="984250" y="4025930"/>
            <a:ext cx="133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231A">
                <a:alpha val="7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1905000" y="33655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23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2032000" y="3492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2540000" y="3429000"/>
            <a:ext cx="209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智能调试引擎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作为系统的“大脑”，负责逻辑编排与任务调度，提供断点调试、状态监控及自动化故障恢复机制。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16500" y="33655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23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5143500" y="3492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651500" y="3429000"/>
            <a:ext cx="209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多协议适配解析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封装各类通信协议(Modbus/Profinet等)，实现异构设备数据的标准化解析与统一转换。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01000" y="3365500"/>
            <a:ext cx="28575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231A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128000" y="34925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636000" y="3429000"/>
            <a:ext cx="2095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2231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实时数据处理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提供高并发数据清洗、缓存与分析能力，支持流式计算与批量处理，保障数据的时效性与准确性。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08000" y="5080000"/>
            <a:ext cx="11176000" cy="1397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cmpd="sng" cap="flat">
            <a:solidFill>
              <a:srgbClr val="C9D5E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8000" y="5080000"/>
            <a:ext cx="1016000" cy="1397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08000" y="5397500"/>
            <a:ext cx="101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驱动层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5361804" flipH="false" flipV="false">
            <a:off x="1079500" y="5772185"/>
            <a:ext cx="114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CA3AF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1905000" y="5207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2032000" y="5334000"/>
            <a:ext cx="406400" cy="4064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2540000" y="5270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统一设备接入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屏蔽底层硬件差异，提供标准化的设备接入接口，支持串口、网口等多种物理连接方式。</a:t>
            </a:r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016500" y="5207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5143500" y="5334000"/>
            <a:ext cx="406400" cy="4064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5651500" y="5270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通信接口封装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提供标准的通信API接口，负责数据的收发与校验，确保硬件与上层逻辑之间的通信稳定可靠。</a:t>
            </a:r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001000" y="5207000"/>
            <a:ext cx="2857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8128000" y="5334000"/>
            <a:ext cx="406400" cy="4064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8636000" y="5270500"/>
            <a:ext cx="2095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硬件驱动适配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适配各类传感器、执行器及板卡驱动，实现对硬件资源的统一管理与高效调度。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 - 实时调试与日志分析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143000"/>
            <a:ext cx="11176000" cy="25400"/>
          </a:xfrm>
          <a:prstGeom prst="roundRect">
            <a:avLst>
              <a:gd name="adj" fmla="val 0"/>
            </a:avLst>
          </a:prstGeom>
          <a:solidFill>
            <a:srgbClr val="CC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651000"/>
            <a:ext cx="4064000" cy="4445000"/>
          </a:xfrm>
          <a:prstGeom prst="roundRect">
            <a:avLst>
              <a:gd name="adj" fmla="val 0"/>
            </a:avLst>
          </a:prstGeom>
          <a:solidFill>
            <a:srgbClr val="CC0000">
              <a:alpha val="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" y="1778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▍全链路调试执行流程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413000"/>
            <a:ext cx="381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6416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70000" y="2476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设备连接初始化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基于USB CDC-ACM与TCP握手包特征匹配自动识别接口，通过CRC校验建立稳定通信链路，完成设备身份鉴权。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3429000"/>
            <a:ext cx="381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" y="36576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70000" y="3492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动态参数配置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基于JSON-RPC 2.0协议下发调试指令，支持采样频率（1Hz-1kHz）与阈值热更新，无需重启硬件。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" y="4445000"/>
            <a:ext cx="3810000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6736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270000" y="45085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实时监控与捕获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基于DMA高速数据搬运实现1ms级波形捕获，支持电压/电流阈值触发，异常时自动锁存前100ms数据。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5397500"/>
            <a:ext cx="3810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C0000">
                <a:alpha val="3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2000" y="5549900"/>
            <a:ext cx="330200" cy="330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270000" y="5461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日志归档与分析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91666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基于ELK栈结构化存储日志，支持模糊检索与时序分析，留存周期可配置（1-365天）。</a:t>
            </a:r>
          </a:p>
        </p:txBody>
      </p:sp>
      <p:cxnSp>
        <p:nvCxnSpPr>
          <p:cNvPr name="Connector 18" id="18"/>
          <p:cNvCxnSpPr/>
          <p:nvPr/>
        </p:nvCxnSpPr>
        <p:spPr>
          <a:xfrm rot="5390177" flipH="false" flipV="false">
            <a:off x="2730500" y="3994159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000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rcRect l="4363" r="4363" t="0" b="0"/>
          <a:stretch>
            <a:fillRect/>
          </a:stretch>
        </p:blipFill>
        <p:spPr>
          <a:xfrm rot="0" flipH="false" flipV="false">
            <a:off x="5207000" y="1651000"/>
            <a:ext cx="3302000" cy="2413000"/>
          </a:xfrm>
          <a:prstGeom prst="rect">
            <a:avLst/>
          </a:prstGeom>
          <a:noFill/>
          <a:ln w="12700" cmpd="sng" cap="flat">
            <a:solidFill>
              <a:srgbClr val="CC0000">
                <a:alpha val="10000"/>
              </a:srgbClr>
            </a:solidFill>
            <a:prstDash val="solid"/>
            <a:round/>
          </a:ln>
        </p:spPr>
      </p:pic>
      <p:sp>
        <p:nvSpPr>
          <p:cNvPr name="AutoShape 20" id="20"/>
          <p:cNvSpPr/>
          <p:nvPr/>
        </p:nvSpPr>
        <p:spPr>
          <a:xfrm rot="0" flipH="false" flipV="false">
            <a:off x="8763000" y="1651000"/>
            <a:ext cx="2921000" cy="2413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890000" y="1778000"/>
            <a:ext cx="2667000" cy="215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沉浸式开发环境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集成VS Code内核与硬件调试终端，实现代码断点与寄存器实时映射；支持Python脚本自动化调试，调试效率提升60%。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207000" y="4445000"/>
            <a:ext cx="2095500" cy="177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5334000" y="4597400"/>
            <a:ext cx="381000" cy="381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334000" y="5080000"/>
            <a:ext cx="184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毫秒级采集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硬件层FPGA预采样+DMA直传，突破传统USB带宽瓶颈，实现1ms数据刷新率，高频信号无失真。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93000" y="4445000"/>
            <a:ext cx="2095500" cy="1778000"/>
          </a:xfrm>
          <a:prstGeom prst="roundRect">
            <a:avLst>
              <a:gd name="adj" fmla="val 0"/>
            </a:avLst>
          </a:prstGeom>
          <a:solidFill>
            <a:srgbClr val="CC0000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7620000" y="4597400"/>
            <a:ext cx="381000" cy="381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620000" y="5080000"/>
            <a:ext cx="184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智能异常告警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融合静态阈值与Isolation Forest模型，自动识别毛刺/漂移等异常，声光告警响应&lt;2s，故障定位时间缩短80%。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652000" y="4445000"/>
            <a:ext cx="2095500" cy="1778000"/>
          </a:xfrm>
          <a:prstGeom prst="roundRect">
            <a:avLst>
              <a:gd name="adj" fmla="val 0"/>
            </a:avLst>
          </a:prstGeom>
          <a:solidFill>
            <a:srgbClr val="CC000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9779000" y="4597400"/>
            <a:ext cx="381000" cy="381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779000" y="5080000"/>
            <a:ext cx="18415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结构化日志检索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采用ES倒排索引存储JSON格式日志，支持时间范围、设备ID等多字段聚合查询，检索响应&lt;500ms。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FFF5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317500"/>
            <a:ext cx="1143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关键技术实现：设备调试流程优化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073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C0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08000" y="1651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16256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01 环境与连接验证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225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完成硬件接线、电源适配与通信链路初始化，校验开发环境工具链完整性、驱动加载状态，确保无硬件物理损坏与通信波特率不匹配问题。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45000" y="16510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4953000" y="16256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02 功能模块单元测试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225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对传感器、执行器、通信接口等独立模块逐项测试，验证输入输出逻辑、参数配置有效性，确保基础功能与设计预期一致。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08000" y="4191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016000" y="41656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03 集成与压力测试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47625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联调模块间交互逻辑，模拟高负载、极限工况进行压力测试，验证系统稳定性、响应延迟与数据吞吐量，校验异常工况恢复机制。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445000" y="4191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953000" y="41656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04 问题定位与迭代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47625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基于日志分析与调试工具定位潜在Bug，记录复现路径；通过参数调优、代码重构完成迭代，实现Bug闭环与性能指标提升。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4445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核心技术亮点：智能异常检测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2277" flipH="false" flipV="false">
            <a:off x="8255011" y="48831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8255000" y="50165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基于设备运行日志与实时数据流，构建多维度特征模型，通过机器学习算法识别异常模式；支持毫秒级异常告警与自动定位，有效降低调试排查时间80%以上。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E0202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硬件调试方法论：四步高效排查法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0202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02020"/>
                </a:solidFill>
                <a:latin typeface="Noto Sans SC"/>
                <a:ea typeface="Noto Sans SC"/>
                <a:cs typeface="Noto Sans SC"/>
                <a:sym typeface="Noto Sans SC"/>
              </a:rPr>
              <a:t>01 环境搭建检查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电源电压是否稳定（12V±5%） • 串口/网口连接是否正常（无松动） • 调试软件版本是否匹配（V2.3及以上）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921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0202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02020"/>
                </a:solidFill>
                <a:latin typeface="Noto Sans SC"/>
                <a:ea typeface="Noto Sans SC"/>
                <a:cs typeface="Noto Sans SC"/>
                <a:sym typeface="Noto Sans SC"/>
              </a:rPr>
              <a:t>02 基础功能验证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设备启动日志是否无报错（Kernel启动正常） • 指示灯状态是否符合预期（PWR常亮/RUN闪烁） • 基础通信链路是否通（Ping测试正常）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4318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0202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318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02020"/>
                </a:solidFill>
                <a:latin typeface="Noto Sans SC"/>
                <a:ea typeface="Noto Sans SC"/>
                <a:cs typeface="Noto Sans SC"/>
                <a:sym typeface="Noto Sans SC"/>
              </a:rPr>
              <a:t>03 功能模块测试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核心传感器数据是否回传（温湿度/压力值正常） • 执行器动作是否精准（电机/电磁阀响应及时） • 数据上报格式是否符合协议（JSON校验通过）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5715000"/>
            <a:ext cx="50800" cy="1016000"/>
          </a:xfrm>
          <a:prstGeom prst="roundRect">
            <a:avLst>
              <a:gd name="adj" fmla="val 0"/>
            </a:avLst>
          </a:prstGeom>
          <a:solidFill>
            <a:srgbClr val="E0202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5715000"/>
            <a:ext cx="660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E02020"/>
                </a:solidFill>
                <a:latin typeface="Noto Sans SC"/>
                <a:ea typeface="Noto Sans SC"/>
                <a:cs typeface="Noto Sans SC"/>
                <a:sym typeface="Noto Sans SC"/>
              </a:rPr>
              <a:t>04 异常复盘与归档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• 异常现象是否完整记录（时间/操作步骤/报错信息） • 根因分析是否闭环（定位到硬件/软件/网络） • 调试报告是否按模板归档（含测试数据与结论）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747000" y="1778000"/>
            <a:ext cx="3810000" cy="4572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12700" cmpd="sng" cap="flat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874000" y="36830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此处替换为真实硬件调试设备照片</a:t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（如示波器、调试板、串口调试器等）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D92B4A"/>
                </a:solidFill>
                <a:latin typeface="Noto Sans SC"/>
                <a:ea typeface="Noto Sans SC"/>
                <a:cs typeface="Noto Sans SC"/>
                <a:sym typeface="Noto Sans SC"/>
              </a:rPr>
              <a:t>04 能力成长与技术沉淀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D92B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21209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技术能力：底层核心深耕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762013" y="2851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CA5A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嵌入式系统原理深究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深入理解MCU架构、RTOS内核机制及硬件接口原理，建立系统级思维，夯实技术地基。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31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多协议与代码质量管控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熟练掌握CAN/LIN/UART等调试技术，推行代码规范与单元测试，提升代码可维护性。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D92B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1209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2070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工程能力：流程规范驱动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4323" flipH="false" flipV="false">
            <a:off x="4572013" y="2851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CA5A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4572000" y="304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敏捷开发与文档标准化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运用Scrum迭代开发模式，建立标准化技术文档体系，确保项目交付规范性。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72000" y="431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系统化的问题排查效率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建立故障复现与分析方法论，利用日志与工具链，大幅缩短疑难问题解决周期。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778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778000"/>
            <a:ext cx="3556000" cy="50800"/>
          </a:xfrm>
          <a:prstGeom prst="roundRect">
            <a:avLst>
              <a:gd name="adj" fmla="val 0"/>
            </a:avLst>
          </a:prstGeom>
          <a:solidFill>
            <a:srgbClr val="D92B4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1209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017000" y="2095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软技能：协作管理赋能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323" flipH="false" flipV="false">
            <a:off x="8382013" y="2851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CA5A5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382000" y="304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跨团队协同与需求分析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对齐多方利益相关者，精准拆解业务需求，降低沟通成本，确保目标一致。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82000" y="4318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项目进度与风险管理</a:t>
            </a: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制定里程碑计划，预判风险并制定预案，保障项目在复杂环境下按时保质交付。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8000" y="6096000"/>
            <a:ext cx="11176000" cy="5588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5000" y="6159500"/>
            <a:ext cx="10922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总结：技术深耕是基石，工程规范是保障，软技能提升是加速器，三者融合构建全面的工程师能力模型。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0F9FF">
                <a:alpha val="100000"/>
              </a:srgbClr>
            </a:gs>
            <a:gs pos="100000">
              <a:srgbClr val="E6F5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团队协作与文化融入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2001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102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524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协作赋能：技术共建与难题攻坚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159000"/>
            <a:ext cx="520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技术分享与技术栈升级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牵头组织8次技术分享会，覆盖微服务治理（Spring Cloud Alibaba）、JVM性能调优、K8s容器编排等核心技术；推动团队技术栈统一升级，新人快速掌握核心技术点，上手效率提升40%。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3683000"/>
            <a:ext cx="520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技术难题攻坚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主导解决电商大促库存超卖问题，引入Redisson分布式锁优化库存扣减逻辑；通过SkyWalking链路追踪定位接口响应慢瓶颈，优化后核心接口响应时间从500ms降至120ms，保障项目按期交付。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5080000"/>
            <a:ext cx="520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核心技术资产沉淀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输出《微服务架构设计与实战手册》《后端开发规范V2.0》《故障应急响应流程》等5份核心文档，降低新人培训成本，故障复盘效率提升60%。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524000"/>
            <a:ext cx="520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文化落地：践行华为核心价值观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159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以客户为中心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深入业务一线参与30+次需求评审，优化支付成功率从99.8%提升至99.95%，解决客户实际支付体验痛点。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144000" y="2159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以奋斗者为本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主导订单中心核心模块开发，季度绩效获评S级；主动带教2名新人，指导其参与技术攻坚，助力团队成长。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191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长期艰苦奋斗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支撑618、双11大促保障，连续加班攻克高并发场景技术难点，完成系统稳定性升级，实现大促零故障。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0" y="4191000"/>
            <a:ext cx="254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坚持自我批判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季度技术复盘识别5个架构设计缺陷，推动3项技术债优化；在方案评审中主动纠偏，避免重复踩坑。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 自我评价与反思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136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3970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▍核心优势：深耕细作，知行合一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159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6000"/>
            </a:srgbClr>
          </a:solidFill>
          <a:ln cmpd="sng" cap="flat">
            <a:solidFill>
              <a:srgbClr val="C0180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2159000"/>
            <a:ext cx="508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286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079500" y="2260600"/>
            <a:ext cx="196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学习能力突出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8582" flipH="false" flipV="false">
            <a:off x="698517" y="2724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3025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98500" y="28575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接触Go语言后快速上手，针对用户中心模块重构，用1个月完成从方案设计到落地，核心接口响应从200ms降到140ms，实打实落地了新技术落地。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2159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6000"/>
            </a:srgbClr>
          </a:solidFill>
          <a:ln cmpd="sng" cap="flat">
            <a:solidFill>
              <a:srgbClr val="C0180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302000" y="2159000"/>
            <a:ext cx="508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92500" y="2286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873500" y="2260600"/>
            <a:ext cx="196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工作态度严谨认真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8582" flipH="false" flipV="false">
            <a:off x="3492517" y="2724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3025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3492500" y="28575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负责核心交易系统开发，上线半年保持0线上故障。上次大促前主动加班攻坚支付链路稳定性，通宵压测调优，确保大促平稳度过。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4318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6000"/>
            </a:srgbClr>
          </a:solidFill>
          <a:ln cmpd="sng" cap="flat">
            <a:solidFill>
              <a:srgbClr val="C0180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" y="4445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079500" y="4419600"/>
            <a:ext cx="196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问题定位精准高效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8582" flipH="false" flipV="false">
            <a:off x="6985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3025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98500" y="50165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线上订单查询偶发超时，通过SkyWalking追踪定位到订单表慢查询，优化索引后查询耗时从500ms降到80ms，系统吞吐量提升60%。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302000" y="4318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6000"/>
            </a:srgbClr>
          </a:solidFill>
          <a:ln cmpd="sng" cap="flat">
            <a:solidFill>
              <a:srgbClr val="C0180E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302000" y="431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D9302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3492500" y="4445000"/>
            <a:ext cx="304800" cy="3048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3873500" y="4419600"/>
            <a:ext cx="1968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团队协作意识良好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8582" flipH="false" flipV="false">
            <a:off x="3492517" y="488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3025">
                <a:alpha val="20000"/>
              </a:srgbClr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3492500" y="5016500"/>
            <a:ext cx="2349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做过5次技术分享，主题有微服务治理、MySQL性能调优；带教2名新人，帮他们熟悉业务和代码规范；项目攻坚时主动补位，和团队一起熬夜解决问题，践行“胜则举杯相庆，败则拼死相救”。</a:t>
            </a:r>
            <a:endParaRPr lang="en-US" sz="1100"/>
          </a:p>
        </p:txBody>
      </p:sp>
      <p:cxnSp>
        <p:nvCxnSpPr>
          <p:cNvPr name="Connector 29" id="29"/>
          <p:cNvCxnSpPr/>
          <p:nvPr/>
        </p:nvCxnSpPr>
        <p:spPr>
          <a:xfrm rot="5390953" flipH="false" flipV="false">
            <a:off x="38735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30" id="30"/>
          <p:cNvSpPr/>
          <p:nvPr/>
        </p:nvSpPr>
        <p:spPr>
          <a:xfrm rot="0" flipH="false" flipV="false">
            <a:off x="6477000" y="1397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▍待改进：正视短板，持续精进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77000" y="2159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6000"/>
            </a:srgbClr>
          </a:solidFill>
          <a:ln cmpd="sng" cap="flat">
            <a:solidFill>
              <a:srgbClr val="3F3939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2159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67500" y="2286000"/>
            <a:ext cx="355600" cy="3556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7112000" y="22606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复杂系统架构理解需系统性深化</a:t>
            </a:r>
            <a:endParaRPr lang="en-US" sz="1100"/>
          </a:p>
        </p:txBody>
      </p:sp>
      <p:cxnSp>
        <p:nvCxnSpPr>
          <p:cNvPr name="Connector 35" id="35"/>
          <p:cNvCxnSpPr/>
          <p:nvPr/>
        </p:nvCxnSpPr>
        <p:spPr>
          <a:xfrm rot="-9046" flipH="false" flipV="false">
            <a:off x="6667508" y="2724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9595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6" id="36"/>
          <p:cNvSpPr/>
          <p:nvPr/>
        </p:nvSpPr>
        <p:spPr>
          <a:xfrm rot="0" flipH="false" flipV="false">
            <a:off x="6667500" y="2819400"/>
            <a:ext cx="4889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对单体应用很熟，但没做过大型分布式系统的高可用设计。接下来打算啃《云原生架构设计》，跟着架构师参与项目复盘，补这块短板。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477000" y="355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6000"/>
            </a:srgbClr>
          </a:solidFill>
          <a:ln cmpd="sng" cap="flat">
            <a:solidFill>
              <a:srgbClr val="3F3939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77000" y="3556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9" id="3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67500" y="3683000"/>
            <a:ext cx="355600" cy="355600"/>
          </a:xfrm>
          <a:prstGeom prst="rect">
            <a:avLst/>
          </a:prstGeom>
        </p:spPr>
      </p:pic>
      <p:sp>
        <p:nvSpPr>
          <p:cNvPr name="AutoShape 40" id="40"/>
          <p:cNvSpPr/>
          <p:nvPr/>
        </p:nvSpPr>
        <p:spPr>
          <a:xfrm rot="0" flipH="false" flipV="false">
            <a:off x="7112000" y="36576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跨领域业务知识储备需补充</a:t>
            </a:r>
            <a:endParaRPr lang="en-US" sz="1100"/>
          </a:p>
        </p:txBody>
      </p:sp>
      <p:cxnSp>
        <p:nvCxnSpPr>
          <p:cNvPr name="Connector 41" id="41"/>
          <p:cNvCxnSpPr/>
          <p:nvPr/>
        </p:nvCxnSpPr>
        <p:spPr>
          <a:xfrm rot="-9046" flipH="false" flipV="false">
            <a:off x="6667508" y="4121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9595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2" id="42"/>
          <p:cNvSpPr/>
          <p:nvPr/>
        </p:nvSpPr>
        <p:spPr>
          <a:xfrm rot="0" flipH="false" flipV="false">
            <a:off x="6667500" y="4216400"/>
            <a:ext cx="4889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之前只关注代码怎么写，对业务背后的商业逻辑了解少。以后会多跟产品经理聊需求，看行业报告，让技术方案真的能帮业务解决问题。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6477000" y="495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6000"/>
            </a:srgbClr>
          </a:solidFill>
          <a:ln cmpd="sng" cap="flat">
            <a:solidFill>
              <a:srgbClr val="3F3939">
                <a:alpha val="6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6477000" y="4953000"/>
            <a:ext cx="50800" cy="1206500"/>
          </a:xfrm>
          <a:prstGeom prst="roundRect">
            <a:avLst>
              <a:gd name="adj" fmla="val 0"/>
            </a:avLst>
          </a:prstGeom>
          <a:solidFill>
            <a:srgbClr val="59595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67500" y="5080000"/>
            <a:ext cx="355600" cy="355600"/>
          </a:xfrm>
          <a:prstGeom prst="rect">
            <a:avLst/>
          </a:prstGeom>
        </p:spPr>
      </p:pic>
      <p:sp>
        <p:nvSpPr>
          <p:cNvPr name="AutoShape 46" id="46"/>
          <p:cNvSpPr/>
          <p:nvPr/>
        </p:nvSpPr>
        <p:spPr>
          <a:xfrm rot="0" flipH="false" flipV="false">
            <a:off x="7112000" y="5054600"/>
            <a:ext cx="4445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多任务并行的时间管理可优化</a:t>
            </a:r>
            <a:endParaRPr lang="en-US" sz="1100"/>
          </a:p>
        </p:txBody>
      </p:sp>
      <p:cxnSp>
        <p:nvCxnSpPr>
          <p:cNvPr name="Connector 47" id="47"/>
          <p:cNvCxnSpPr/>
          <p:nvPr/>
        </p:nvCxnSpPr>
        <p:spPr>
          <a:xfrm rot="-9046" flipH="false" flipV="false">
            <a:off x="6667508" y="5518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595959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8" id="48"/>
          <p:cNvSpPr/>
          <p:nvPr/>
        </p:nvSpPr>
        <p:spPr>
          <a:xfrm rot="0" flipH="false" flipV="false">
            <a:off x="6667500" y="5613400"/>
            <a:ext cx="48895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多任务并行时偶尔分不清主次，导致次要任务耽误核心进度。准备用优先级矩阵梳理任务，用番茄工作法管控时间，保证核心事优先做。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自我评价与反思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/>
          <p:nvPr/>
        </p:nvSpPr>
        <p:spPr>
          <a:xfrm rot="0" flipH="false" flipV="false">
            <a:off x="508000" y="1778000"/>
            <a:ext cx="5334000" cy="4318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cmpd="sng" cap="flat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优势：快速学习与落地执行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046" flipH="false" flipV="false">
            <a:off x="762008" y="2660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3111500"/>
            <a:ext cx="381000" cy="381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984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快速掌握自研调试工具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入职1个月内吃透工具核心代码，3周独立完成模块功能迭代，比预期提前2周参与正式版本交付。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4254500"/>
            <a:ext cx="381000" cy="381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97000" y="4127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高效推进功能优化落地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针对用户反馈的日志解析慢问题，3天内完成算法优化，使解析效率提升60%，并快速上线验证。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207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89000" y="5334000"/>
            <a:ext cx="381000" cy="381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5270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跨团队协作执行力强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主动对接测试团队梳理需求，提前输出联调方案，保障版本按期发布。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5334000" cy="4318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cmpd="sng" cap="flat">
            <a:solidFill>
              <a:srgbClr val="E5C3C3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032000"/>
            <a:ext cx="482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CC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不足：系统架构与经验沉淀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046" flipH="false" flipV="false">
            <a:off x="6477008" y="2660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C00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477000" y="2921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3111500"/>
            <a:ext cx="381000" cy="381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112000" y="2984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复杂系统架构理解不足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对工具与底层硬件交互的全链路架构理解不深，排查跨模块偶现问题时定位效率较低。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77000" y="4064000"/>
            <a:ext cx="4826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4254500"/>
            <a:ext cx="381000" cy="381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112000" y="4127500"/>
            <a:ext cx="4064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技术经验沉淀意识薄弱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解决问题后未及时整理排查思路与解决方案，导致后续遇到同类问题时重复踩坑，效率偏低。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5207000"/>
            <a:ext cx="482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5334000"/>
            <a:ext cx="381000" cy="381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112000" y="5270500"/>
            <a:ext cx="406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技术视野有待拓宽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对行业内调试工具新技术关注较少，缺乏主动调研和学习的习惯。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668000" y="0"/>
            <a:ext cx="1524000" cy="101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D9001B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b="true" i="false" strike="noStrike" u="none" sz="3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转正后工作规划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906" flipH="false" flipV="false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635000" y="1905000"/>
            <a:ext cx="5334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2159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001B"/>
                </a:solidFill>
                <a:latin typeface="Noto Sans SC"/>
                <a:ea typeface="Noto Sans SC"/>
                <a:cs typeface="Noto Sans SC"/>
                <a:sym typeface="Noto Sans SC"/>
              </a:rPr>
              <a:t>短期目标 · 夯实基础</a:t>
            </a: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（入职3个月内）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35000" y="3175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065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吃透自研软件全栈架构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1周内通读系统设计文档，2周内完成核心模块源码走读，输出《架构核心逻辑与数据流向》技术笔记，建立完整技术认知。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" y="444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06500" y="438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独立负责版本迭代维护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接手V2.8版本Bug修复（含3个P0级、5个P1级Bug），建立标准化开发测试流程，确保版本按时、零故障发布。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35000" y="5588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06500" y="5524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落地2项核心功能优化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完成“日志检索”功能的查询速度优化（提升50%）、“报表导出”功能的交互体验优化，输出2份优化效果报告。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1905000"/>
            <a:ext cx="5334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159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D9001B"/>
                </a:solidFill>
                <a:latin typeface="Noto Sans SC"/>
                <a:ea typeface="Noto Sans SC"/>
                <a:cs typeface="Noto Sans SC"/>
                <a:sym typeface="Noto Sans SC"/>
              </a:rPr>
              <a:t>中期目标 · 突破攻坚</a:t>
            </a:r>
            <a:r>
              <a:rPr lang="en-US" b="false" i="false" strike="noStrike" u="none" sz="14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（入职6-12个月）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175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0485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跻身调试软件核心开发组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深度参与底层“高速数据解析模块”开发，攻克2个行业共性技术难点，输出1篇技术专利或核心模块设计文档。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438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主导下一代调试工具预研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调研AI辅助调试、云化部署2个前沿方向，输出《下一代工具技术选型与架构设计》预研报告，完成1个技术原型验证。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558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5524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建立梯队，培养1-2名新人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制定《新人成长手册》，通过每周1次代码Review、每月1次技术分享，指导新人独立完成1个功能模块开发，完成人才梯队建设。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A1A1A">
                <a:alpha val="100000"/>
              </a:srgbClr>
            </a:gs>
            <a:gs pos="100000">
              <a:srgbClr val="303037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3937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敬请指正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508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敬请批评指正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0" y="508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 spc="200">
                <a:solidFill>
                  <a:srgbClr val="D9001B"/>
                </a:solidFill>
                <a:latin typeface="Noto Sans SC"/>
                <a:ea typeface="Noto Sans SC"/>
                <a:cs typeface="Noto Sans SC"/>
                <a:sym typeface="Noto Sans SC"/>
              </a:rPr>
              <a:t>THANK YOU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{"Label":"1","ContentProducer":"001191110102MACQD9K64010000","ProduceID":"7654257100164861116","ReservedCode1":"","ContentPropagator":"","PropagateID":"","ReservedCode2":""}</vt:lpwstr>
  </property>
</Properties>
</file>